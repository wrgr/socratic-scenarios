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21945600" cy="32918400"/>
  <p:notesSz cx="32918400" cy="219456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CDCC6"/>
    <a:srgbClr val="1A223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511"/>
    <p:restoredTop sz="94610"/>
  </p:normalViewPr>
  <p:slideViewPr>
    <p:cSldViewPr snapToGrid="0" snapToObjects="1">
      <p:cViewPr>
        <p:scale>
          <a:sx n="69" d="100"/>
          <a:sy n="69" d="100"/>
        </p:scale>
        <p:origin x="-8" y="-69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16860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58368"/>
            <a:ext cx="1463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kern="0" spc="100" dirty="0">
                <a:solidFill>
                  <a:srgbClr val="0E5C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TEACHME · SOCRATIC SCENARIOS — RETRIEVAL-AUGMENTED OPERATIONAL TRAINING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15544800" y="658368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500" b="1" kern="0" spc="100" dirty="0">
                <a:solidFill>
                  <a:srgbClr val="C73B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PROTOTYPE · SIMULATION-VALIDATED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822960" y="1225296"/>
            <a:ext cx="20299680" cy="1583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4600" b="1" dirty="0" err="1">
                <a:solidFill>
                  <a:srgbClr val="1A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TeachMe</a:t>
            </a:r>
            <a:r>
              <a:rPr lang="en-US" sz="4800" dirty="0"/>
              <a:t>— </a:t>
            </a:r>
            <a:r>
              <a:rPr lang="en-US" sz="4600" b="1" dirty="0">
                <a:solidFill>
                  <a:srgbClr val="1A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Retrieve for the learner,</a:t>
            </a:r>
          </a:p>
          <a:p>
            <a:pPr marL="0" indent="0" algn="l">
              <a:lnSpc>
                <a:spcPct val="104000"/>
              </a:lnSpc>
              <a:buNone/>
            </a:pPr>
            <a:r>
              <a:rPr lang="en-US" sz="4600" b="1" dirty="0">
                <a:solidFill>
                  <a:srgbClr val="C73B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 just the query.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22960" y="3101848"/>
            <a:ext cx="20299680" cy="2679192"/>
          </a:xfrm>
          <a:prstGeom prst="roundRect">
            <a:avLst>
              <a:gd name="adj" fmla="val 2632"/>
            </a:avLst>
          </a:prstGeom>
          <a:solidFill>
            <a:srgbClr val="E4E1DB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1234439" y="3447287"/>
            <a:ext cx="19752029" cy="942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14000"/>
              </a:lnSpc>
            </a:pPr>
            <a:r>
              <a:rPr lang="en-US" sz="2400" b="1" dirty="0" err="1">
                <a:latin typeface="Cambria" panose="02040503050406030204" pitchFamily="18" charset="0"/>
              </a:rPr>
              <a:t>TeachMe</a:t>
            </a:r>
            <a:r>
              <a:rPr lang="en-US" sz="2400" dirty="0">
                <a:latin typeface="Cambria" panose="02040503050406030204" pitchFamily="18" charset="0"/>
              </a:rPr>
              <a:t> is a domain-agnostic platform for training users to operate complex, safety-critical equipment. It combines educational frameworks, agent-guided instruction, and retrieval from an expert-reviewed knowledge graph to provide grounded guidance, adaptive practice, and mastery-based progression. </a:t>
            </a:r>
          </a:p>
        </p:txBody>
      </p:sp>
      <p:sp>
        <p:nvSpPr>
          <p:cNvPr id="7" name="Shape 5"/>
          <p:cNvSpPr/>
          <p:nvPr/>
        </p:nvSpPr>
        <p:spPr>
          <a:xfrm>
            <a:off x="822960" y="3101848"/>
            <a:ext cx="128016" cy="2679192"/>
          </a:xfrm>
          <a:prstGeom prst="roundRect">
            <a:avLst>
              <a:gd name="adj" fmla="val 357143"/>
            </a:avLst>
          </a:prstGeom>
          <a:solidFill>
            <a:srgbClr val="C73B2F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1234440" y="4811776"/>
            <a:ext cx="1938528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2000" i="1" dirty="0">
                <a:latin typeface="Cambria" panose="02040503050406030204" pitchFamily="18" charset="0"/>
              </a:rPr>
              <a:t>A technician learning the </a:t>
            </a:r>
            <a:r>
              <a:rPr lang="en-US" sz="2000" i="1" dirty="0" err="1">
                <a:latin typeface="Cambria" panose="02040503050406030204" pitchFamily="18" charset="0"/>
              </a:rPr>
              <a:t>Optomec</a:t>
            </a:r>
            <a:r>
              <a:rPr lang="en-US" sz="2000" i="1" dirty="0">
                <a:latin typeface="Cambria" panose="02040503050406030204" pitchFamily="18" charset="0"/>
              </a:rPr>
              <a:t> HD2 — or a mariner learning the rules of the road — needs answers at the right level of complexity, with a guarantee that the system will never hallucinate a safety value. If a technician internalizes even one incorrect parameter during training, they may leave more dangerous than when they started.</a:t>
            </a:r>
          </a:p>
        </p:txBody>
      </p:sp>
      <p:sp>
        <p:nvSpPr>
          <p:cNvPr id="20" name="Shape 18"/>
          <p:cNvSpPr/>
          <p:nvPr/>
        </p:nvSpPr>
        <p:spPr>
          <a:xfrm>
            <a:off x="811017" y="6203493"/>
            <a:ext cx="20208240" cy="3865270"/>
          </a:xfrm>
          <a:prstGeom prst="roundRect">
            <a:avLst>
              <a:gd name="adj" fmla="val 339"/>
            </a:avLst>
          </a:prstGeom>
          <a:solidFill>
            <a:srgbClr val="131A24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175788" y="6556352"/>
            <a:ext cx="1298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8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Architecture Overview</a:t>
            </a:r>
          </a:p>
        </p:txBody>
      </p:sp>
      <p:sp>
        <p:nvSpPr>
          <p:cNvPr id="56" name="Text 54"/>
          <p:cNvSpPr/>
          <p:nvPr/>
        </p:nvSpPr>
        <p:spPr>
          <a:xfrm>
            <a:off x="778229" y="10544981"/>
            <a:ext cx="20299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600" b="1" kern="0" spc="100" dirty="0">
                <a:solidFill>
                  <a:srgbClr val="C73B2F"/>
                </a:solidFill>
                <a:latin typeface="Cambria" panose="02040503050406030204" pitchFamily="18" charset="0"/>
                <a:ea typeface="Courier New" pitchFamily="34" charset="-122"/>
                <a:cs typeface="Courier New" pitchFamily="34" charset="-120"/>
              </a:rPr>
              <a:t>What’s Working Now </a:t>
            </a:r>
            <a:endParaRPr lang="en-US" sz="3600" dirty="0">
              <a:latin typeface="Cambria" panose="02040503050406030204" pitchFamily="18" charset="0"/>
            </a:endParaRPr>
          </a:p>
        </p:txBody>
      </p:sp>
      <p:sp>
        <p:nvSpPr>
          <p:cNvPr id="57" name="Shape 55"/>
          <p:cNvSpPr/>
          <p:nvPr/>
        </p:nvSpPr>
        <p:spPr>
          <a:xfrm>
            <a:off x="769209" y="11468524"/>
            <a:ext cx="4800600" cy="3291840"/>
          </a:xfrm>
          <a:prstGeom prst="roundRect">
            <a:avLst>
              <a:gd name="adj" fmla="val 833"/>
            </a:avLst>
          </a:prstGeom>
          <a:solidFill>
            <a:srgbClr val="FFFFFF"/>
          </a:solidFill>
          <a:ln w="12700">
            <a:solidFill>
              <a:srgbClr val="DDE3E8"/>
            </a:solidFill>
            <a:prstDash val="solid"/>
          </a:ln>
        </p:spPr>
        <p:txBody>
          <a:bodyPr/>
          <a:p/>
        </p:txBody>
      </p:sp>
      <p:sp>
        <p:nvSpPr>
          <p:cNvPr id="58" name="Text 56"/>
          <p:cNvSpPr/>
          <p:nvPr/>
        </p:nvSpPr>
        <p:spPr>
          <a:xfrm>
            <a:off x="1089249" y="11788564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0E5C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400" dirty="0"/>
          </a:p>
        </p:txBody>
      </p:sp>
      <p:sp>
        <p:nvSpPr>
          <p:cNvPr id="59" name="Text 57"/>
          <p:cNvSpPr/>
          <p:nvPr/>
        </p:nvSpPr>
        <p:spPr>
          <a:xfrm>
            <a:off x="1089249" y="12117748"/>
            <a:ext cx="4160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2200" b="1" dirty="0">
                <a:solidFill>
                  <a:srgbClr val="1A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Corpus-bound Narrator</a:t>
            </a:r>
            <a:endParaRPr lang="en-US" sz="2200" dirty="0"/>
          </a:p>
        </p:txBody>
      </p:sp>
      <p:sp>
        <p:nvSpPr>
          <p:cNvPr id="60" name="Text 58"/>
          <p:cNvSpPr/>
          <p:nvPr/>
        </p:nvSpPr>
        <p:spPr>
          <a:xfrm>
            <a:off x="1089249" y="12789834"/>
            <a:ext cx="4160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55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 machine behavior verbatim from reviewed graph nodes; cannot generate from model weights.</a:t>
            </a:r>
            <a:endParaRPr lang="en-US" sz="1550" dirty="0"/>
          </a:p>
        </p:txBody>
      </p:sp>
      <p:sp>
        <p:nvSpPr>
          <p:cNvPr id="61" name="Text 59"/>
          <p:cNvSpPr/>
          <p:nvPr/>
        </p:nvSpPr>
        <p:spPr>
          <a:xfrm>
            <a:off x="1089249" y="13806848"/>
            <a:ext cx="4160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550" b="1" dirty="0">
                <a:solidFill>
                  <a:srgbClr val="0E5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r>
              <a:rPr lang="en-US" sz="1550" b="1" dirty="0">
                <a:solidFill>
                  <a:srgbClr val="1A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a technician can't internalize a hallucinated safety value; silent corpus shows the gap, never fabricates it.</a:t>
            </a:r>
            <a:endParaRPr lang="en-US" sz="1600" dirty="0"/>
          </a:p>
        </p:txBody>
      </p:sp>
      <p:sp>
        <p:nvSpPr>
          <p:cNvPr id="62" name="Shape 60"/>
          <p:cNvSpPr/>
          <p:nvPr/>
        </p:nvSpPr>
        <p:spPr>
          <a:xfrm>
            <a:off x="5935569" y="11468524"/>
            <a:ext cx="4800600" cy="3291840"/>
          </a:xfrm>
          <a:prstGeom prst="roundRect">
            <a:avLst>
              <a:gd name="adj" fmla="val 833"/>
            </a:avLst>
          </a:prstGeom>
          <a:solidFill>
            <a:srgbClr val="FFFFFF"/>
          </a:solidFill>
          <a:ln w="12700">
            <a:solidFill>
              <a:srgbClr val="DDE3E8"/>
            </a:solidFill>
            <a:prstDash val="solid"/>
          </a:ln>
        </p:spPr>
        <p:txBody>
          <a:bodyPr/>
          <a:p/>
        </p:txBody>
      </p:sp>
      <p:sp>
        <p:nvSpPr>
          <p:cNvPr id="63" name="Text 61"/>
          <p:cNvSpPr/>
          <p:nvPr/>
        </p:nvSpPr>
        <p:spPr>
          <a:xfrm>
            <a:off x="6255609" y="11788564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0E5C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400" dirty="0"/>
          </a:p>
        </p:txBody>
      </p:sp>
      <p:sp>
        <p:nvSpPr>
          <p:cNvPr id="64" name="Text 62"/>
          <p:cNvSpPr/>
          <p:nvPr/>
        </p:nvSpPr>
        <p:spPr>
          <a:xfrm>
            <a:off x="6255609" y="12117748"/>
            <a:ext cx="4160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2200" b="1" dirty="0">
                <a:solidFill>
                  <a:srgbClr val="1A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Typed causal graph</a:t>
            </a:r>
            <a:endParaRPr lang="en-US" sz="2200" dirty="0"/>
          </a:p>
        </p:txBody>
      </p:sp>
      <p:sp>
        <p:nvSpPr>
          <p:cNvPr id="65" name="Text 63"/>
          <p:cNvSpPr/>
          <p:nvPr/>
        </p:nvSpPr>
        <p:spPr>
          <a:xfrm>
            <a:off x="6255609" y="12769258"/>
            <a:ext cx="4160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55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100+ nodes, six fault domains: Symptom→FailureMode→CorrectiveAction with SafetyHazard co-retrieved along the chain.</a:t>
            </a:r>
            <a:endParaRPr lang="en-US" sz="1550" dirty="0"/>
          </a:p>
        </p:txBody>
      </p:sp>
      <p:sp>
        <p:nvSpPr>
          <p:cNvPr id="66" name="Text 64"/>
          <p:cNvSpPr/>
          <p:nvPr/>
        </p:nvSpPr>
        <p:spPr>
          <a:xfrm>
            <a:off x="6255609" y="13806848"/>
            <a:ext cx="4160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550" b="1" dirty="0">
                <a:solidFill>
                  <a:srgbClr val="0E5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r>
              <a:rPr lang="en-US" sz="1550" b="1" dirty="0">
                <a:solidFill>
                  <a:srgbClr val="1A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safety context travels with the diagnosis instead of being a separate lookup a flat store can miss.</a:t>
            </a:r>
            <a:endParaRPr lang="en-US" sz="1600" dirty="0"/>
          </a:p>
        </p:txBody>
      </p:sp>
      <p:sp>
        <p:nvSpPr>
          <p:cNvPr id="67" name="Shape 65"/>
          <p:cNvSpPr/>
          <p:nvPr/>
        </p:nvSpPr>
        <p:spPr>
          <a:xfrm>
            <a:off x="11101929" y="11468524"/>
            <a:ext cx="4800600" cy="3291840"/>
          </a:xfrm>
          <a:prstGeom prst="roundRect">
            <a:avLst>
              <a:gd name="adj" fmla="val 833"/>
            </a:avLst>
          </a:prstGeom>
          <a:solidFill>
            <a:srgbClr val="FFFFFF"/>
          </a:solidFill>
          <a:ln w="12700">
            <a:solidFill>
              <a:srgbClr val="DDE3E8"/>
            </a:solidFill>
            <a:prstDash val="solid"/>
          </a:ln>
        </p:spPr>
        <p:txBody>
          <a:bodyPr/>
          <a:p/>
        </p:txBody>
      </p:sp>
      <p:sp>
        <p:nvSpPr>
          <p:cNvPr id="68" name="Text 66"/>
          <p:cNvSpPr/>
          <p:nvPr/>
        </p:nvSpPr>
        <p:spPr>
          <a:xfrm>
            <a:off x="11421969" y="11788564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0E5C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400" dirty="0"/>
          </a:p>
        </p:txBody>
      </p:sp>
      <p:sp>
        <p:nvSpPr>
          <p:cNvPr id="69" name="Text 67"/>
          <p:cNvSpPr/>
          <p:nvPr/>
        </p:nvSpPr>
        <p:spPr>
          <a:xfrm>
            <a:off x="11421969" y="12117748"/>
            <a:ext cx="4160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2200" b="1" dirty="0">
                <a:solidFill>
                  <a:srgbClr val="1A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Dual-axis mastery gates</a:t>
            </a:r>
            <a:endParaRPr lang="en-US" sz="2200" dirty="0"/>
          </a:p>
        </p:txBody>
      </p:sp>
      <p:sp>
        <p:nvSpPr>
          <p:cNvPr id="70" name="Text 68"/>
          <p:cNvSpPr/>
          <p:nvPr/>
        </p:nvSpPr>
        <p:spPr>
          <a:xfrm>
            <a:off x="11421969" y="12755999"/>
            <a:ext cx="4160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55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Declarative proficiency (Socratic probes) must clear before procedural practice; gates are transparent and auditable.</a:t>
            </a:r>
            <a:endParaRPr lang="en-US" sz="1550" dirty="0"/>
          </a:p>
        </p:txBody>
      </p:sp>
      <p:sp>
        <p:nvSpPr>
          <p:cNvPr id="71" name="Text 69"/>
          <p:cNvSpPr/>
          <p:nvPr/>
        </p:nvSpPr>
        <p:spPr>
          <a:xfrm>
            <a:off x="11421969" y="13617364"/>
            <a:ext cx="4160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550" b="1" dirty="0">
                <a:solidFill>
                  <a:srgbClr val="0E5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r>
              <a:rPr lang="en-US" sz="1550" b="1" dirty="0">
                <a:solidFill>
                  <a:srgbClr val="1A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an instructor can point at a score and say exactly why the system advanced or held a learner.</a:t>
            </a:r>
            <a:endParaRPr lang="en-US" sz="1600" dirty="0"/>
          </a:p>
        </p:txBody>
      </p:sp>
      <p:sp>
        <p:nvSpPr>
          <p:cNvPr id="72" name="Shape 70"/>
          <p:cNvSpPr/>
          <p:nvPr/>
        </p:nvSpPr>
        <p:spPr>
          <a:xfrm>
            <a:off x="16268289" y="11468524"/>
            <a:ext cx="4800600" cy="3291840"/>
          </a:xfrm>
          <a:prstGeom prst="roundRect">
            <a:avLst>
              <a:gd name="adj" fmla="val 833"/>
            </a:avLst>
          </a:prstGeom>
          <a:solidFill>
            <a:srgbClr val="FFFFFF"/>
          </a:solidFill>
          <a:ln w="12700">
            <a:solidFill>
              <a:srgbClr val="DDE3E8"/>
            </a:solidFill>
            <a:prstDash val="solid"/>
          </a:ln>
        </p:spPr>
        <p:txBody>
          <a:bodyPr/>
          <a:p/>
        </p:txBody>
      </p:sp>
      <p:sp>
        <p:nvSpPr>
          <p:cNvPr id="73" name="Text 71"/>
          <p:cNvSpPr/>
          <p:nvPr/>
        </p:nvSpPr>
        <p:spPr>
          <a:xfrm>
            <a:off x="16588329" y="11788564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0E5C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400" dirty="0"/>
          </a:p>
        </p:txBody>
      </p:sp>
      <p:sp>
        <p:nvSpPr>
          <p:cNvPr id="74" name="Text 72"/>
          <p:cNvSpPr/>
          <p:nvPr/>
        </p:nvSpPr>
        <p:spPr>
          <a:xfrm>
            <a:off x="16588329" y="12117748"/>
            <a:ext cx="4160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2200" b="1" dirty="0">
                <a:solidFill>
                  <a:srgbClr val="1A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modes, one progression</a:t>
            </a:r>
            <a:endParaRPr lang="en-US" sz="2200" dirty="0"/>
          </a:p>
        </p:txBody>
      </p:sp>
      <p:sp>
        <p:nvSpPr>
          <p:cNvPr id="75" name="Text 73"/>
          <p:cNvSpPr/>
          <p:nvPr/>
        </p:nvSpPr>
        <p:spPr>
          <a:xfrm>
            <a:off x="16588329" y="12789834"/>
            <a:ext cx="4160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55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Socratic Practice → Scenario Mode (deterministic fault injection) → Reachback Lookup → Retrieval Lab.</a:t>
            </a:r>
            <a:endParaRPr lang="en-US" sz="1550" dirty="0"/>
          </a:p>
        </p:txBody>
      </p:sp>
      <p:sp>
        <p:nvSpPr>
          <p:cNvPr id="76" name="Text 74"/>
          <p:cNvSpPr/>
          <p:nvPr/>
        </p:nvSpPr>
        <p:spPr>
          <a:xfrm>
            <a:off x="16588329" y="13845964"/>
            <a:ext cx="4160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550" b="1" dirty="0">
                <a:solidFill>
                  <a:srgbClr val="0E5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r>
              <a:rPr lang="en-US" sz="1550" b="1" dirty="0">
                <a:solidFill>
                  <a:srgbClr val="1A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training load is sequenced and instructors inspect what retrieval will surface before a learner sees it.</a:t>
            </a:r>
            <a:endParaRPr lang="en-US" sz="1600" dirty="0"/>
          </a:p>
        </p:txBody>
      </p:sp>
      <p:sp>
        <p:nvSpPr>
          <p:cNvPr id="77" name="Text 75"/>
          <p:cNvSpPr/>
          <p:nvPr/>
        </p:nvSpPr>
        <p:spPr>
          <a:xfrm>
            <a:off x="719577" y="15328249"/>
            <a:ext cx="20299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800" b="1" kern="0" spc="100" dirty="0">
                <a:solidFill>
                  <a:srgbClr val="C73B2F"/>
                </a:solidFill>
                <a:latin typeface="Cambria" panose="02040503050406030204" pitchFamily="18" charset="0"/>
                <a:ea typeface="Courier New" pitchFamily="34" charset="-122"/>
                <a:cs typeface="Courier New" pitchFamily="34" charset="-120"/>
              </a:rPr>
              <a:t> Five-Level Expertise Continuum</a:t>
            </a:r>
            <a:endParaRPr lang="en-US" sz="2800" dirty="0">
              <a:latin typeface="Cambria" panose="02040503050406030204" pitchFamily="18" charset="0"/>
            </a:endParaRPr>
          </a:p>
        </p:txBody>
      </p:sp>
      <p:sp>
        <p:nvSpPr>
          <p:cNvPr id="78" name="Shape 76"/>
          <p:cNvSpPr/>
          <p:nvPr/>
        </p:nvSpPr>
        <p:spPr>
          <a:xfrm>
            <a:off x="2057400" y="17079944"/>
            <a:ext cx="2468880" cy="0"/>
          </a:xfrm>
          <a:prstGeom prst="line">
            <a:avLst/>
          </a:prstGeom>
          <a:noFill/>
          <a:ln w="19050">
            <a:solidFill>
              <a:srgbClr val="DDE3E8"/>
            </a:solidFill>
            <a:prstDash val="solid"/>
          </a:ln>
        </p:spPr>
        <p:txBody>
          <a:bodyPr/>
          <a:p/>
        </p:txBody>
      </p:sp>
      <p:sp>
        <p:nvSpPr>
          <p:cNvPr id="79" name="Shape 77"/>
          <p:cNvSpPr/>
          <p:nvPr/>
        </p:nvSpPr>
        <p:spPr>
          <a:xfrm>
            <a:off x="4526280" y="17079944"/>
            <a:ext cx="2468880" cy="0"/>
          </a:xfrm>
          <a:prstGeom prst="line">
            <a:avLst/>
          </a:prstGeom>
          <a:noFill/>
          <a:ln w="19050">
            <a:solidFill>
              <a:srgbClr val="DDE3E8"/>
            </a:solidFill>
            <a:prstDash val="solid"/>
          </a:ln>
        </p:spPr>
        <p:txBody>
          <a:bodyPr/>
          <a:p/>
        </p:txBody>
      </p:sp>
      <p:sp>
        <p:nvSpPr>
          <p:cNvPr id="80" name="Shape 78"/>
          <p:cNvSpPr/>
          <p:nvPr/>
        </p:nvSpPr>
        <p:spPr>
          <a:xfrm>
            <a:off x="6995160" y="17079944"/>
            <a:ext cx="2468880" cy="0"/>
          </a:xfrm>
          <a:prstGeom prst="line">
            <a:avLst/>
          </a:prstGeom>
          <a:noFill/>
          <a:ln w="19050">
            <a:solidFill>
              <a:srgbClr val="DDE3E8"/>
            </a:solidFill>
            <a:prstDash val="solid"/>
          </a:ln>
        </p:spPr>
        <p:txBody>
          <a:bodyPr/>
          <a:p/>
        </p:txBody>
      </p:sp>
      <p:sp>
        <p:nvSpPr>
          <p:cNvPr id="81" name="Shape 79"/>
          <p:cNvSpPr/>
          <p:nvPr/>
        </p:nvSpPr>
        <p:spPr>
          <a:xfrm>
            <a:off x="9464040" y="17079944"/>
            <a:ext cx="2468880" cy="0"/>
          </a:xfrm>
          <a:prstGeom prst="line">
            <a:avLst/>
          </a:prstGeom>
          <a:noFill/>
          <a:ln w="19050">
            <a:solidFill>
              <a:srgbClr val="DDE3E8"/>
            </a:solidFill>
            <a:prstDash val="solid"/>
          </a:ln>
        </p:spPr>
        <p:txBody>
          <a:bodyPr/>
          <a:p/>
        </p:txBody>
      </p:sp>
      <p:sp>
        <p:nvSpPr>
          <p:cNvPr id="82" name="Shape 80"/>
          <p:cNvSpPr/>
          <p:nvPr/>
        </p:nvSpPr>
        <p:spPr>
          <a:xfrm>
            <a:off x="1911096" y="16933640"/>
            <a:ext cx="292608" cy="292608"/>
          </a:xfrm>
          <a:prstGeom prst="ellipse">
            <a:avLst/>
          </a:prstGeom>
          <a:solidFill>
            <a:srgbClr val="0E5C66"/>
          </a:solidFill>
          <a:ln/>
        </p:spPr>
        <p:txBody>
          <a:bodyPr/>
          <a:p/>
        </p:txBody>
      </p:sp>
      <p:sp>
        <p:nvSpPr>
          <p:cNvPr id="83" name="Text 81"/>
          <p:cNvSpPr/>
          <p:nvPr/>
        </p:nvSpPr>
        <p:spPr>
          <a:xfrm>
            <a:off x="594360" y="1629356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1A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Novice</a:t>
            </a:r>
            <a:endParaRPr lang="en-US" sz="1600" dirty="0"/>
          </a:p>
        </p:txBody>
      </p:sp>
      <p:sp>
        <p:nvSpPr>
          <p:cNvPr id="84" name="Text 82"/>
          <p:cNvSpPr/>
          <p:nvPr/>
        </p:nvSpPr>
        <p:spPr>
          <a:xfrm>
            <a:off x="502920" y="16622744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lab background</a:t>
            </a:r>
            <a:endParaRPr lang="en-US" sz="1400" dirty="0"/>
          </a:p>
        </p:txBody>
      </p:sp>
      <p:sp>
        <p:nvSpPr>
          <p:cNvPr id="85" name="Shape 83"/>
          <p:cNvSpPr/>
          <p:nvPr/>
        </p:nvSpPr>
        <p:spPr>
          <a:xfrm>
            <a:off x="4334256" y="16860488"/>
            <a:ext cx="384048" cy="384048"/>
          </a:xfrm>
          <a:prstGeom prst="ellipse">
            <a:avLst/>
          </a:prstGeom>
          <a:solidFill>
            <a:srgbClr val="0E5C66"/>
          </a:solidFill>
          <a:ln/>
        </p:spPr>
        <p:txBody>
          <a:bodyPr/>
          <a:p/>
        </p:txBody>
      </p:sp>
      <p:sp>
        <p:nvSpPr>
          <p:cNvPr id="86" name="Text 84"/>
          <p:cNvSpPr/>
          <p:nvPr/>
        </p:nvSpPr>
        <p:spPr>
          <a:xfrm>
            <a:off x="3063240" y="17409128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1A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Novice</a:t>
            </a:r>
            <a:endParaRPr lang="en-US" sz="1600" dirty="0"/>
          </a:p>
        </p:txBody>
      </p:sp>
      <p:sp>
        <p:nvSpPr>
          <p:cNvPr id="87" name="Text 85"/>
          <p:cNvSpPr/>
          <p:nvPr/>
        </p:nvSpPr>
        <p:spPr>
          <a:xfrm>
            <a:off x="2971800" y="1773831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eng. tech, new domain</a:t>
            </a:r>
            <a:endParaRPr lang="en-US" sz="1400" dirty="0"/>
          </a:p>
        </p:txBody>
      </p:sp>
      <p:sp>
        <p:nvSpPr>
          <p:cNvPr id="88" name="Shape 86"/>
          <p:cNvSpPr/>
          <p:nvPr/>
        </p:nvSpPr>
        <p:spPr>
          <a:xfrm>
            <a:off x="6757416" y="16787336"/>
            <a:ext cx="475488" cy="475488"/>
          </a:xfrm>
          <a:prstGeom prst="ellipse">
            <a:avLst/>
          </a:prstGeom>
          <a:solidFill>
            <a:srgbClr val="0E5C66"/>
          </a:solidFill>
          <a:ln/>
        </p:spPr>
        <p:txBody>
          <a:bodyPr/>
          <a:p/>
        </p:txBody>
      </p:sp>
      <p:sp>
        <p:nvSpPr>
          <p:cNvPr id="89" name="Text 87"/>
          <p:cNvSpPr/>
          <p:nvPr/>
        </p:nvSpPr>
        <p:spPr>
          <a:xfrm>
            <a:off x="5532120" y="16147256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1A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Naive</a:t>
            </a:r>
            <a:endParaRPr lang="en-US" sz="1600" dirty="0"/>
          </a:p>
        </p:txBody>
      </p:sp>
      <p:sp>
        <p:nvSpPr>
          <p:cNvPr id="90" name="Text 88"/>
          <p:cNvSpPr/>
          <p:nvPr/>
        </p:nvSpPr>
        <p:spPr>
          <a:xfrm>
            <a:off x="5440680" y="16476440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vocabulary only</a:t>
            </a:r>
            <a:endParaRPr lang="en-US" sz="1400" dirty="0"/>
          </a:p>
        </p:txBody>
      </p:sp>
      <p:sp>
        <p:nvSpPr>
          <p:cNvPr id="91" name="Shape 89"/>
          <p:cNvSpPr/>
          <p:nvPr/>
        </p:nvSpPr>
        <p:spPr>
          <a:xfrm>
            <a:off x="9180576" y="16714184"/>
            <a:ext cx="566928" cy="566928"/>
          </a:xfrm>
          <a:prstGeom prst="ellipse">
            <a:avLst/>
          </a:prstGeom>
          <a:solidFill>
            <a:srgbClr val="C73B2F"/>
          </a:solidFill>
          <a:ln/>
        </p:spPr>
        <p:txBody>
          <a:bodyPr/>
          <a:p/>
        </p:txBody>
      </p:sp>
      <p:sp>
        <p:nvSpPr>
          <p:cNvPr id="92" name="Text 90"/>
          <p:cNvSpPr/>
          <p:nvPr/>
        </p:nvSpPr>
        <p:spPr>
          <a:xfrm>
            <a:off x="8092440" y="1631184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C73B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YOU ARE HERE</a:t>
            </a:r>
            <a:endParaRPr lang="en-US" sz="1400" dirty="0"/>
          </a:p>
        </p:txBody>
      </p:sp>
      <p:sp>
        <p:nvSpPr>
          <p:cNvPr id="93" name="Text 91"/>
          <p:cNvSpPr/>
          <p:nvPr/>
        </p:nvSpPr>
        <p:spPr>
          <a:xfrm>
            <a:off x="8001000" y="17445704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1A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Intermediate</a:t>
            </a:r>
            <a:endParaRPr lang="en-US" sz="1600" dirty="0"/>
          </a:p>
        </p:txBody>
      </p:sp>
      <p:sp>
        <p:nvSpPr>
          <p:cNvPr id="94" name="Text 92"/>
          <p:cNvSpPr/>
          <p:nvPr/>
        </p:nvSpPr>
        <p:spPr>
          <a:xfrm>
            <a:off x="7909560" y="17774888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supervised hands-on</a:t>
            </a:r>
            <a:endParaRPr lang="en-US" sz="1400" dirty="0"/>
          </a:p>
        </p:txBody>
      </p:sp>
      <p:sp>
        <p:nvSpPr>
          <p:cNvPr id="95" name="Shape 93"/>
          <p:cNvSpPr/>
          <p:nvPr/>
        </p:nvSpPr>
        <p:spPr>
          <a:xfrm>
            <a:off x="11603736" y="16641032"/>
            <a:ext cx="658368" cy="65836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E5C66"/>
            </a:solidFill>
            <a:prstDash val="solid"/>
          </a:ln>
        </p:spPr>
        <p:txBody>
          <a:bodyPr/>
          <a:p/>
        </p:txBody>
      </p:sp>
      <p:sp>
        <p:nvSpPr>
          <p:cNvPr id="96" name="Text 94"/>
          <p:cNvSpPr/>
          <p:nvPr/>
        </p:nvSpPr>
        <p:spPr>
          <a:xfrm>
            <a:off x="10469880" y="16000952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1A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Proficient</a:t>
            </a:r>
            <a:endParaRPr lang="en-US" sz="1600" dirty="0"/>
          </a:p>
        </p:txBody>
      </p:sp>
      <p:sp>
        <p:nvSpPr>
          <p:cNvPr id="97" name="Text 95"/>
          <p:cNvSpPr/>
          <p:nvPr/>
        </p:nvSpPr>
        <p:spPr>
          <a:xfrm>
            <a:off x="10378440" y="16330136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SOPs + physics + cues</a:t>
            </a:r>
            <a:endParaRPr lang="en-US" sz="1400" dirty="0"/>
          </a:p>
        </p:txBody>
      </p:sp>
      <p:sp>
        <p:nvSpPr>
          <p:cNvPr id="99" name="Shape 97"/>
          <p:cNvSpPr/>
          <p:nvPr/>
        </p:nvSpPr>
        <p:spPr>
          <a:xfrm>
            <a:off x="769209" y="18930112"/>
            <a:ext cx="20299680" cy="1645920"/>
          </a:xfrm>
          <a:prstGeom prst="roundRect">
            <a:avLst>
              <a:gd name="adj" fmla="val 2778"/>
            </a:avLst>
          </a:prstGeom>
          <a:solidFill>
            <a:srgbClr val="E3ECEE"/>
          </a:solidFill>
          <a:ln/>
        </p:spPr>
        <p:txBody>
          <a:bodyPr/>
          <a:p/>
        </p:txBody>
      </p:sp>
      <p:sp>
        <p:nvSpPr>
          <p:cNvPr id="100" name="Shape 98"/>
          <p:cNvSpPr/>
          <p:nvPr/>
        </p:nvSpPr>
        <p:spPr>
          <a:xfrm>
            <a:off x="769209" y="18930112"/>
            <a:ext cx="128016" cy="1645920"/>
          </a:xfrm>
          <a:prstGeom prst="roundRect">
            <a:avLst>
              <a:gd name="adj" fmla="val 357143"/>
            </a:avLst>
          </a:prstGeom>
          <a:solidFill>
            <a:srgbClr val="0E5C66"/>
          </a:solidFill>
          <a:ln/>
        </p:spPr>
        <p:txBody>
          <a:bodyPr/>
          <a:p/>
        </p:txBody>
      </p:sp>
      <p:sp>
        <p:nvSpPr>
          <p:cNvPr id="101" name="Text 99"/>
          <p:cNvSpPr/>
          <p:nvPr/>
        </p:nvSpPr>
        <p:spPr>
          <a:xfrm>
            <a:off x="1180689" y="19186144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b="1" kern="0" spc="100" dirty="0">
                <a:solidFill>
                  <a:srgbClr val="0E5C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THIS WORKS</a:t>
            </a:r>
            <a:endParaRPr lang="en-US" sz="2000" dirty="0"/>
          </a:p>
        </p:txBody>
      </p:sp>
      <p:sp>
        <p:nvSpPr>
          <p:cNvPr id="102" name="Text 100"/>
          <p:cNvSpPr/>
          <p:nvPr/>
        </p:nvSpPr>
        <p:spPr>
          <a:xfrm>
            <a:off x="1180689" y="19497040"/>
            <a:ext cx="1389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400" dirty="0">
                <a:solidFill>
                  <a:srgbClr val="1A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technician reaches independent, unsupervised operation faster and with fewer escalations — because training builds far-transfer diagnostic capability, not recall.</a:t>
            </a:r>
            <a:endParaRPr lang="en-US" sz="2400" dirty="0"/>
          </a:p>
        </p:txBody>
      </p:sp>
      <p:sp>
        <p:nvSpPr>
          <p:cNvPr id="103" name="Text 101"/>
          <p:cNvSpPr/>
          <p:nvPr/>
        </p:nvSpPr>
        <p:spPr>
          <a:xfrm>
            <a:off x="15582489" y="19250152"/>
            <a:ext cx="5029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0E5C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TARGET  </a:t>
            </a:r>
            <a:endParaRPr lang="en-US" sz="2000" dirty="0"/>
          </a:p>
          <a:p>
            <a:pPr marL="0" indent="0" algn="r">
              <a:lnSpc>
                <a:spcPct val="100000"/>
              </a:lnSpc>
              <a:buNone/>
            </a:pPr>
            <a:r>
              <a:rPr lang="en-US" sz="2000" i="1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far-transfer performance on novel fault combinations vs. direct instruction — not yet measured on real learners; the Workflow Demo exists to de-risk this bet first.</a:t>
            </a:r>
            <a:endParaRPr lang="en-US" sz="2000" dirty="0"/>
          </a:p>
        </p:txBody>
      </p:sp>
      <p:sp>
        <p:nvSpPr>
          <p:cNvPr id="104" name="Shape 102"/>
          <p:cNvSpPr/>
          <p:nvPr/>
        </p:nvSpPr>
        <p:spPr>
          <a:xfrm>
            <a:off x="753885" y="21280757"/>
            <a:ext cx="20299679" cy="4754880"/>
          </a:xfrm>
          <a:prstGeom prst="roundRect">
            <a:avLst>
              <a:gd name="adj" fmla="val 385"/>
            </a:avLst>
          </a:prstGeom>
          <a:solidFill>
            <a:srgbClr val="1A2230"/>
          </a:solidFill>
          <a:ln/>
        </p:spPr>
        <p:txBody>
          <a:bodyPr/>
          <a:p/>
        </p:txBody>
      </p:sp>
      <p:sp>
        <p:nvSpPr>
          <p:cNvPr id="105" name="Text 103"/>
          <p:cNvSpPr/>
          <p:nvPr/>
        </p:nvSpPr>
        <p:spPr>
          <a:xfrm>
            <a:off x="1280160" y="21737320"/>
            <a:ext cx="1938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800" b="1" kern="0" spc="100" dirty="0">
                <a:solidFill>
                  <a:srgbClr val="8B95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HOW WE KEEP OURSELVES HONEST</a:t>
            </a:r>
            <a:endParaRPr lang="en-US" sz="2800" dirty="0"/>
          </a:p>
        </p:txBody>
      </p:sp>
      <p:sp>
        <p:nvSpPr>
          <p:cNvPr id="106" name="Text 104"/>
          <p:cNvSpPr/>
          <p:nvPr/>
        </p:nvSpPr>
        <p:spPr>
          <a:xfrm>
            <a:off x="1222497" y="22324859"/>
            <a:ext cx="19385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2400" dirty="0">
                <a:solidFill>
                  <a:srgbClr val="3DDCC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“In safety-critical training, ‘I don't know, but here's the SOP for this state’ beats a confident wrong answer.”</a:t>
            </a:r>
            <a:endParaRPr lang="en-US" sz="2400" dirty="0"/>
          </a:p>
        </p:txBody>
      </p:sp>
      <p:sp>
        <p:nvSpPr>
          <p:cNvPr id="107" name="Text 105"/>
          <p:cNvSpPr/>
          <p:nvPr/>
        </p:nvSpPr>
        <p:spPr>
          <a:xfrm>
            <a:off x="1280160" y="23291800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b="1" kern="0" spc="50" dirty="0">
                <a:solidFill>
                  <a:srgbClr val="8B95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SIGNAL</a:t>
            </a:r>
            <a:endParaRPr lang="en-US" sz="1400" dirty="0"/>
          </a:p>
        </p:txBody>
      </p:sp>
      <p:sp>
        <p:nvSpPr>
          <p:cNvPr id="108" name="Text 106"/>
          <p:cNvSpPr/>
          <p:nvPr/>
        </p:nvSpPr>
        <p:spPr>
          <a:xfrm>
            <a:off x="5577840" y="23291800"/>
            <a:ext cx="6766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b="1" kern="0" spc="50" dirty="0">
                <a:solidFill>
                  <a:srgbClr val="8B95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WHAT IT CAN CLAIM</a:t>
            </a:r>
            <a:endParaRPr lang="en-US" sz="1400" dirty="0"/>
          </a:p>
        </p:txBody>
      </p:sp>
      <p:sp>
        <p:nvSpPr>
          <p:cNvPr id="109" name="Text 107"/>
          <p:cNvSpPr/>
          <p:nvPr/>
        </p:nvSpPr>
        <p:spPr>
          <a:xfrm>
            <a:off x="12710160" y="2329180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b="1" kern="0" spc="50" dirty="0">
                <a:solidFill>
                  <a:srgbClr val="8B95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TRUST</a:t>
            </a:r>
            <a:endParaRPr lang="en-US" sz="1400" dirty="0"/>
          </a:p>
        </p:txBody>
      </p:sp>
      <p:sp>
        <p:nvSpPr>
          <p:cNvPr id="110" name="Text 108"/>
          <p:cNvSpPr/>
          <p:nvPr/>
        </p:nvSpPr>
        <p:spPr>
          <a:xfrm>
            <a:off x="14173200" y="23291800"/>
            <a:ext cx="6492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b="1" kern="0" spc="50" dirty="0">
                <a:solidFill>
                  <a:srgbClr val="8B95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CAN'T RULE OUT</a:t>
            </a:r>
            <a:endParaRPr lang="en-US" sz="1400" dirty="0"/>
          </a:p>
        </p:txBody>
      </p:sp>
      <p:sp>
        <p:nvSpPr>
          <p:cNvPr id="111" name="Shape 109"/>
          <p:cNvSpPr/>
          <p:nvPr/>
        </p:nvSpPr>
        <p:spPr>
          <a:xfrm>
            <a:off x="1280160" y="23712424"/>
            <a:ext cx="19385280" cy="0"/>
          </a:xfrm>
          <a:prstGeom prst="line">
            <a:avLst/>
          </a:prstGeom>
          <a:noFill/>
          <a:ln w="12700">
            <a:solidFill>
              <a:srgbClr val="333B45"/>
            </a:solidFill>
            <a:prstDash val="solid"/>
          </a:ln>
        </p:spPr>
        <p:txBody>
          <a:bodyPr/>
          <a:p/>
        </p:txBody>
      </p:sp>
      <p:sp>
        <p:nvSpPr>
          <p:cNvPr id="112" name="Text 110"/>
          <p:cNvSpPr/>
          <p:nvPr/>
        </p:nvSpPr>
        <p:spPr>
          <a:xfrm>
            <a:off x="1280160" y="23895304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400" b="1" dirty="0">
                <a:solidFill>
                  <a:srgbClr val="D7D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Corpus-bound Narrator</a:t>
            </a:r>
            <a:endParaRPr lang="en-US" sz="1400" dirty="0"/>
          </a:p>
        </p:txBody>
      </p:sp>
      <p:sp>
        <p:nvSpPr>
          <p:cNvPr id="113" name="Text 111"/>
          <p:cNvSpPr/>
          <p:nvPr/>
        </p:nvSpPr>
        <p:spPr>
          <a:xfrm>
            <a:off x="5577840" y="23849583"/>
            <a:ext cx="6766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400" dirty="0">
                <a:solidFill>
                  <a:srgbClr val="D7D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Eliminates hallucinated machine behavior by construction — every observable traces to a reviewed node.</a:t>
            </a:r>
            <a:endParaRPr lang="en-US" sz="1400" dirty="0"/>
          </a:p>
        </p:txBody>
      </p:sp>
      <p:sp>
        <p:nvSpPr>
          <p:cNvPr id="114" name="Text 112"/>
          <p:cNvSpPr/>
          <p:nvPr/>
        </p:nvSpPr>
        <p:spPr>
          <a:xfrm>
            <a:off x="12710160" y="23817652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3DDC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strong</a:t>
            </a:r>
            <a:endParaRPr lang="en-US" sz="1400" dirty="0"/>
          </a:p>
        </p:txBody>
      </p:sp>
      <p:sp>
        <p:nvSpPr>
          <p:cNvPr id="115" name="Text 113"/>
          <p:cNvSpPr/>
          <p:nvPr/>
        </p:nvSpPr>
        <p:spPr>
          <a:xfrm>
            <a:off x="14173200" y="23776432"/>
            <a:ext cx="6492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400" dirty="0">
                <a:solidFill>
                  <a:srgbClr val="8B95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states outside the authored fault domains aren't narratable (a coverage gap, made visible not hidden)</a:t>
            </a:r>
            <a:endParaRPr lang="en-US" sz="1400" dirty="0"/>
          </a:p>
        </p:txBody>
      </p:sp>
      <p:sp>
        <p:nvSpPr>
          <p:cNvPr id="116" name="Text 114"/>
          <p:cNvSpPr/>
          <p:nvPr/>
        </p:nvSpPr>
        <p:spPr>
          <a:xfrm>
            <a:off x="1280160" y="24242776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400" b="1" dirty="0">
                <a:solidFill>
                  <a:srgbClr val="D7D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Dual-axis learner model</a:t>
            </a:r>
            <a:endParaRPr lang="en-US" sz="1400" dirty="0"/>
          </a:p>
        </p:txBody>
      </p:sp>
      <p:sp>
        <p:nvSpPr>
          <p:cNvPr id="117" name="Text 115"/>
          <p:cNvSpPr/>
          <p:nvPr/>
        </p:nvSpPr>
        <p:spPr>
          <a:xfrm>
            <a:off x="5577840" y="24338771"/>
            <a:ext cx="6766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400" dirty="0">
                <a:solidFill>
                  <a:srgbClr val="D7D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Transparent, auditable tutor decisions, inspectable in the Retrieval Lab.</a:t>
            </a:r>
            <a:endParaRPr lang="en-US" sz="1400" dirty="0"/>
          </a:p>
        </p:txBody>
      </p:sp>
      <p:sp>
        <p:nvSpPr>
          <p:cNvPr id="118" name="Text 116"/>
          <p:cNvSpPr/>
          <p:nvPr/>
        </p:nvSpPr>
        <p:spPr>
          <a:xfrm>
            <a:off x="12710160" y="24242776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3DDC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strong</a:t>
            </a:r>
            <a:endParaRPr lang="en-US" sz="1400" dirty="0"/>
          </a:p>
        </p:txBody>
      </p:sp>
      <p:sp>
        <p:nvSpPr>
          <p:cNvPr id="119" name="Text 117"/>
          <p:cNvSpPr/>
          <p:nvPr/>
        </p:nvSpPr>
        <p:spPr>
          <a:xfrm>
            <a:off x="14127480" y="24219915"/>
            <a:ext cx="6492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400" dirty="0">
                <a:solidFill>
                  <a:srgbClr val="8B95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deliberately simpler than probabilistic knowledge tracing — may miss subtler learner states</a:t>
            </a:r>
            <a:endParaRPr lang="en-US" sz="1400" dirty="0"/>
          </a:p>
        </p:txBody>
      </p:sp>
      <p:sp>
        <p:nvSpPr>
          <p:cNvPr id="120" name="Text 118"/>
          <p:cNvSpPr/>
          <p:nvPr/>
        </p:nvSpPr>
        <p:spPr>
          <a:xfrm>
            <a:off x="1280160" y="24590248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400" b="1" dirty="0">
                <a:solidFill>
                  <a:srgbClr val="D7D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Far-transfer outcome</a:t>
            </a:r>
            <a:endParaRPr lang="en-US" sz="1400" dirty="0"/>
          </a:p>
        </p:txBody>
      </p:sp>
      <p:sp>
        <p:nvSpPr>
          <p:cNvPr id="121" name="Text 119"/>
          <p:cNvSpPr/>
          <p:nvPr/>
        </p:nvSpPr>
        <p:spPr>
          <a:xfrm>
            <a:off x="5577840" y="24590248"/>
            <a:ext cx="6766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400" dirty="0">
                <a:solidFill>
                  <a:srgbClr val="D7D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PBL design targets far transfer to novel fault combinations.</a:t>
            </a:r>
            <a:endParaRPr lang="en-US" sz="1400" dirty="0"/>
          </a:p>
        </p:txBody>
      </p:sp>
      <p:sp>
        <p:nvSpPr>
          <p:cNvPr id="122" name="Text 120"/>
          <p:cNvSpPr/>
          <p:nvPr/>
        </p:nvSpPr>
        <p:spPr>
          <a:xfrm>
            <a:off x="12710160" y="24635968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C73B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weak</a:t>
            </a:r>
            <a:endParaRPr lang="en-US" sz="1400" dirty="0"/>
          </a:p>
        </p:txBody>
      </p:sp>
      <p:sp>
        <p:nvSpPr>
          <p:cNvPr id="123" name="Text 121"/>
          <p:cNvSpPr/>
          <p:nvPr/>
        </p:nvSpPr>
        <p:spPr>
          <a:xfrm>
            <a:off x="14127480" y="24635968"/>
            <a:ext cx="6492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400" dirty="0">
                <a:solidFill>
                  <a:srgbClr val="8B95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whether the simulated-learner loop predicts real technician outcomes</a:t>
            </a:r>
            <a:endParaRPr lang="en-US" sz="1400" dirty="0"/>
          </a:p>
        </p:txBody>
      </p:sp>
      <p:sp>
        <p:nvSpPr>
          <p:cNvPr id="124" name="Shape 122"/>
          <p:cNvSpPr/>
          <p:nvPr/>
        </p:nvSpPr>
        <p:spPr>
          <a:xfrm>
            <a:off x="1280160" y="25475184"/>
            <a:ext cx="19385280" cy="0"/>
          </a:xfrm>
          <a:prstGeom prst="line">
            <a:avLst/>
          </a:prstGeom>
          <a:noFill/>
          <a:ln w="12700">
            <a:solidFill>
              <a:srgbClr val="333B45"/>
            </a:solidFill>
            <a:prstDash val="solid"/>
          </a:ln>
        </p:spPr>
        <p:txBody>
          <a:bodyPr/>
          <a:p/>
        </p:txBody>
      </p:sp>
      <p:sp>
        <p:nvSpPr>
          <p:cNvPr id="125" name="Text 123"/>
          <p:cNvSpPr/>
          <p:nvPr/>
        </p:nvSpPr>
        <p:spPr>
          <a:xfrm>
            <a:off x="1280160" y="25584912"/>
            <a:ext cx="19385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C73B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LEFT OUT ON PURPOSE   </a:t>
            </a:r>
            <a:r>
              <a:rPr lang="en-US" sz="1400" dirty="0">
                <a:solidFill>
                  <a:srgbClr val="D7D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free-running text generation. The Narrator can only quote the reviewed corpus — so no prompt, and no jailbreak, can make it invent machine behavior.</a:t>
            </a:r>
            <a:endParaRPr lang="en-US" sz="1600" dirty="0"/>
          </a:p>
        </p:txBody>
      </p:sp>
      <p:sp>
        <p:nvSpPr>
          <p:cNvPr id="126" name="Text 124"/>
          <p:cNvSpPr/>
          <p:nvPr/>
        </p:nvSpPr>
        <p:spPr>
          <a:xfrm>
            <a:off x="822960" y="26583640"/>
            <a:ext cx="20299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b="1" kern="0" spc="100" dirty="0">
                <a:solidFill>
                  <a:srgbClr val="C73B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QUESTIONS WE'RE CHASING</a:t>
            </a:r>
            <a:endParaRPr lang="en-US" sz="2000" dirty="0"/>
          </a:p>
        </p:txBody>
      </p:sp>
      <p:sp>
        <p:nvSpPr>
          <p:cNvPr id="127" name="Text 125"/>
          <p:cNvSpPr/>
          <p:nvPr/>
        </p:nvSpPr>
        <p:spPr>
          <a:xfrm>
            <a:off x="778229" y="27104848"/>
            <a:ext cx="20299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00" b="1" dirty="0">
                <a:solidFill>
                  <a:srgbClr val="1A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do we effectively use AI in high-consequence environments?</a:t>
            </a:r>
            <a:endParaRPr lang="en-US" sz="3200" dirty="0"/>
          </a:p>
        </p:txBody>
      </p:sp>
      <p:sp>
        <p:nvSpPr>
          <p:cNvPr id="138" name="Text 136"/>
          <p:cNvSpPr/>
          <p:nvPr/>
        </p:nvSpPr>
        <p:spPr>
          <a:xfrm>
            <a:off x="822960" y="31073344"/>
            <a:ext cx="4800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C73B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Mia Ndousse-Fetter</a:t>
            </a:r>
            <a:endParaRPr lang="en-US" sz="1400" dirty="0"/>
          </a:p>
        </p:txBody>
      </p:sp>
      <p:sp>
        <p:nvSpPr>
          <p:cNvPr id="142" name="Text 140"/>
          <p:cNvSpPr/>
          <p:nvPr/>
        </p:nvSpPr>
        <p:spPr>
          <a:xfrm>
            <a:off x="5989320" y="31073344"/>
            <a:ext cx="4800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C73B2F"/>
                </a:solidFill>
                <a:latin typeface="Courier New" pitchFamily="34" charset="0"/>
                <a:cs typeface="Courier New" pitchFamily="34" charset="-120"/>
              </a:rPr>
              <a:t>William Gray-Roncal</a:t>
            </a:r>
            <a:endParaRPr lang="en-US" sz="1400" dirty="0"/>
          </a:p>
        </p:txBody>
      </p:sp>
      <p:sp>
        <p:nvSpPr>
          <p:cNvPr id="146" name="Text 144"/>
          <p:cNvSpPr/>
          <p:nvPr/>
        </p:nvSpPr>
        <p:spPr>
          <a:xfrm>
            <a:off x="11155680" y="31073344"/>
            <a:ext cx="4800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C73B2F"/>
                </a:solidFill>
                <a:latin typeface="Courier New" pitchFamily="34" charset="0"/>
                <a:cs typeface="Courier New" pitchFamily="34" charset="-120"/>
              </a:rPr>
              <a:t>And Team</a:t>
            </a:r>
            <a:endParaRPr lang="en-US" sz="1400" dirty="0"/>
          </a:p>
        </p:txBody>
      </p:sp>
      <p:sp>
        <p:nvSpPr>
          <p:cNvPr id="152" name="Text 150"/>
          <p:cNvSpPr/>
          <p:nvPr/>
        </p:nvSpPr>
        <p:spPr>
          <a:xfrm>
            <a:off x="822960" y="31676848"/>
            <a:ext cx="1325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5560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TeachMe · one engine, many domains — retrieve what teaches, not just what matches.</a:t>
            </a:r>
            <a:endParaRPr lang="en-US" sz="1400" dirty="0"/>
          </a:p>
        </p:txBody>
      </p:sp>
      <p:sp>
        <p:nvSpPr>
          <p:cNvPr id="153" name="Text 151"/>
          <p:cNvSpPr/>
          <p:nvPr/>
        </p:nvSpPr>
        <p:spPr>
          <a:xfrm>
            <a:off x="14919960" y="31693104"/>
            <a:ext cx="579501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400" dirty="0">
                <a:solidFill>
                  <a:srgbClr val="5560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APL</a:t>
            </a:r>
            <a:endParaRPr lang="en-US" sz="1400" dirty="0"/>
          </a:p>
        </p:txBody>
      </p:sp>
      <p:sp>
        <p:nvSpPr>
          <p:cNvPr id="166" name="Shape 149">
            <a:extLst>
              <a:ext uri="{FF2B5EF4-FFF2-40B4-BE49-F238E27FC236}">
                <a16:creationId xmlns:a16="http://schemas.microsoft.com/office/drawing/2014/main" id="{3CF5C929-D421-D54C-6AFF-B8A36DCBCCA7}"/>
              </a:ext>
            </a:extLst>
          </p:cNvPr>
          <p:cNvSpPr/>
          <p:nvPr/>
        </p:nvSpPr>
        <p:spPr>
          <a:xfrm>
            <a:off x="975360" y="31682944"/>
            <a:ext cx="20299680" cy="0"/>
          </a:xfrm>
          <a:prstGeom prst="line">
            <a:avLst/>
          </a:prstGeom>
          <a:noFill/>
          <a:ln w="12700">
            <a:solidFill>
              <a:srgbClr val="DDE3E8"/>
            </a:solidFill>
            <a:prstDash val="solid"/>
          </a:ln>
        </p:spPr>
        <p:txBody>
          <a:bodyPr/>
          <a:p/>
        </p:txBody>
      </p:sp>
      <p:grpSp>
        <p:nvGrpSpPr>
          <p:cNvPr id="171" name="Group 170">
            <a:extLst>
              <a:ext uri="{FF2B5EF4-FFF2-40B4-BE49-F238E27FC236}">
                <a16:creationId xmlns:a16="http://schemas.microsoft.com/office/drawing/2014/main" id="{5E83DB49-3196-A772-CFFD-06243156D8CC}"/>
              </a:ext>
            </a:extLst>
          </p:cNvPr>
          <p:cNvGrpSpPr/>
          <p:nvPr/>
        </p:nvGrpSpPr>
        <p:grpSpPr>
          <a:xfrm>
            <a:off x="1989604" y="7497776"/>
            <a:ext cx="17026128" cy="973430"/>
            <a:chOff x="1170432" y="7852156"/>
            <a:chExt cx="17026128" cy="973430"/>
          </a:xfrm>
        </p:grpSpPr>
        <p:sp>
          <p:nvSpPr>
            <p:cNvPr id="24" name="Shape 22"/>
            <p:cNvSpPr/>
            <p:nvPr/>
          </p:nvSpPr>
          <p:spPr>
            <a:xfrm>
              <a:off x="1170432" y="7865466"/>
              <a:ext cx="2560320" cy="960120"/>
            </a:xfrm>
            <a:prstGeom prst="roundRect">
              <a:avLst>
                <a:gd name="adj" fmla="val 6667"/>
              </a:avLst>
            </a:prstGeom>
            <a:solidFill>
              <a:srgbClr val="1F2A38"/>
            </a:solidFill>
            <a:ln w="22225">
              <a:solidFill>
                <a:srgbClr val="3DDCC6"/>
              </a:solidFill>
              <a:prstDash val="solid"/>
            </a:ln>
          </p:spPr>
        </p:sp>
        <p:sp>
          <p:nvSpPr>
            <p:cNvPr id="25" name="Text 23"/>
            <p:cNvSpPr/>
            <p:nvPr/>
          </p:nvSpPr>
          <p:spPr>
            <a:xfrm>
              <a:off x="1243584" y="7963714"/>
              <a:ext cx="2340864" cy="7772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lnSpc>
                  <a:spcPct val="102000"/>
                </a:lnSpc>
                <a:buNone/>
              </a:pPr>
              <a:r>
                <a:rPr lang="en-US" b="1" dirty="0">
                  <a:solidFill>
                    <a:srgbClr val="3DDCC6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Knowledge Graph</a:t>
              </a:r>
              <a:endParaRPr lang="en-US" dirty="0"/>
            </a:p>
          </p:txBody>
        </p:sp>
        <p:sp>
          <p:nvSpPr>
            <p:cNvPr id="154" name="Shape 22">
              <a:extLst>
                <a:ext uri="{FF2B5EF4-FFF2-40B4-BE49-F238E27FC236}">
                  <a16:creationId xmlns:a16="http://schemas.microsoft.com/office/drawing/2014/main" id="{92082439-9B41-AB23-6321-3B07DEE5D98E}"/>
                </a:ext>
              </a:extLst>
            </p:cNvPr>
            <p:cNvSpPr/>
            <p:nvPr/>
          </p:nvSpPr>
          <p:spPr>
            <a:xfrm>
              <a:off x="4754880" y="7865466"/>
              <a:ext cx="2560320" cy="960120"/>
            </a:xfrm>
            <a:prstGeom prst="roundRect">
              <a:avLst>
                <a:gd name="adj" fmla="val 6667"/>
              </a:avLst>
            </a:prstGeom>
            <a:solidFill>
              <a:srgbClr val="1F2A38"/>
            </a:solidFill>
            <a:ln w="22225">
              <a:solidFill>
                <a:srgbClr val="3DDCC6"/>
              </a:solidFill>
              <a:prstDash val="solid"/>
            </a:ln>
          </p:spPr>
        </p:sp>
        <p:sp>
          <p:nvSpPr>
            <p:cNvPr id="155" name="Shape 22">
              <a:extLst>
                <a:ext uri="{FF2B5EF4-FFF2-40B4-BE49-F238E27FC236}">
                  <a16:creationId xmlns:a16="http://schemas.microsoft.com/office/drawing/2014/main" id="{3883ABA7-062C-4C96-DF4C-D25FA666AA3D}"/>
                </a:ext>
              </a:extLst>
            </p:cNvPr>
            <p:cNvSpPr/>
            <p:nvPr/>
          </p:nvSpPr>
          <p:spPr>
            <a:xfrm>
              <a:off x="8366760" y="7852156"/>
              <a:ext cx="2560320" cy="960120"/>
            </a:xfrm>
            <a:prstGeom prst="roundRect">
              <a:avLst>
                <a:gd name="adj" fmla="val 6667"/>
              </a:avLst>
            </a:prstGeom>
            <a:solidFill>
              <a:srgbClr val="1F2A38"/>
            </a:solidFill>
            <a:ln w="22225">
              <a:solidFill>
                <a:srgbClr val="3DDCC6"/>
              </a:solidFill>
              <a:prstDash val="solid"/>
            </a:ln>
          </p:spPr>
        </p:sp>
        <p:sp>
          <p:nvSpPr>
            <p:cNvPr id="156" name="Shape 22">
              <a:extLst>
                <a:ext uri="{FF2B5EF4-FFF2-40B4-BE49-F238E27FC236}">
                  <a16:creationId xmlns:a16="http://schemas.microsoft.com/office/drawing/2014/main" id="{88EFACB4-4EC2-911E-6F39-17FB3729D4DB}"/>
                </a:ext>
              </a:extLst>
            </p:cNvPr>
            <p:cNvSpPr/>
            <p:nvPr/>
          </p:nvSpPr>
          <p:spPr>
            <a:xfrm>
              <a:off x="11977352" y="7865466"/>
              <a:ext cx="2560320" cy="960120"/>
            </a:xfrm>
            <a:prstGeom prst="roundRect">
              <a:avLst>
                <a:gd name="adj" fmla="val 6667"/>
              </a:avLst>
            </a:prstGeom>
            <a:solidFill>
              <a:srgbClr val="1F2A38"/>
            </a:solidFill>
            <a:ln w="22225">
              <a:solidFill>
                <a:srgbClr val="3DDCC6"/>
              </a:solidFill>
              <a:prstDash val="solid"/>
            </a:ln>
          </p:spPr>
        </p:sp>
        <p:sp>
          <p:nvSpPr>
            <p:cNvPr id="157" name="Shape 22">
              <a:extLst>
                <a:ext uri="{FF2B5EF4-FFF2-40B4-BE49-F238E27FC236}">
                  <a16:creationId xmlns:a16="http://schemas.microsoft.com/office/drawing/2014/main" id="{15A85C28-963B-9D2B-19F3-29C690B228B7}"/>
                </a:ext>
              </a:extLst>
            </p:cNvPr>
            <p:cNvSpPr/>
            <p:nvPr/>
          </p:nvSpPr>
          <p:spPr>
            <a:xfrm>
              <a:off x="15636240" y="7865466"/>
              <a:ext cx="2560320" cy="960120"/>
            </a:xfrm>
            <a:prstGeom prst="roundRect">
              <a:avLst>
                <a:gd name="adj" fmla="val 6667"/>
              </a:avLst>
            </a:prstGeom>
            <a:solidFill>
              <a:srgbClr val="1F2A38"/>
            </a:solidFill>
            <a:ln w="22225">
              <a:solidFill>
                <a:srgbClr val="3DDCC6"/>
              </a:solidFill>
              <a:prstDash val="solid"/>
            </a:ln>
          </p:spPr>
        </p:sp>
        <p:cxnSp>
          <p:nvCxnSpPr>
            <p:cNvPr id="161" name="Straight Arrow Connector 160">
              <a:extLst>
                <a:ext uri="{FF2B5EF4-FFF2-40B4-BE49-F238E27FC236}">
                  <a16:creationId xmlns:a16="http://schemas.microsoft.com/office/drawing/2014/main" id="{623D7832-B371-A096-2F2D-32BA2D162BBD}"/>
                </a:ext>
              </a:extLst>
            </p:cNvPr>
            <p:cNvCxnSpPr>
              <a:cxnSpLocks/>
              <a:endCxn id="154" idx="1"/>
            </p:cNvCxnSpPr>
            <p:nvPr/>
          </p:nvCxnSpPr>
          <p:spPr>
            <a:xfrm flipV="1">
              <a:off x="3730752" y="8345526"/>
              <a:ext cx="1024128" cy="1785"/>
            </a:xfrm>
            <a:prstGeom prst="straightConnector1">
              <a:avLst/>
            </a:prstGeom>
            <a:ln w="19050">
              <a:solidFill>
                <a:srgbClr val="3CDCC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3" name="Straight Arrow Connector 162">
              <a:extLst>
                <a:ext uri="{FF2B5EF4-FFF2-40B4-BE49-F238E27FC236}">
                  <a16:creationId xmlns:a16="http://schemas.microsoft.com/office/drawing/2014/main" id="{BB33A323-934A-17C3-D6FD-87279C60D573}"/>
                </a:ext>
              </a:extLst>
            </p:cNvPr>
            <p:cNvCxnSpPr>
              <a:cxnSpLocks/>
              <a:endCxn id="155" idx="1"/>
            </p:cNvCxnSpPr>
            <p:nvPr/>
          </p:nvCxnSpPr>
          <p:spPr>
            <a:xfrm flipV="1">
              <a:off x="7315200" y="8332216"/>
              <a:ext cx="1051560" cy="7315"/>
            </a:xfrm>
            <a:prstGeom prst="straightConnector1">
              <a:avLst/>
            </a:prstGeom>
            <a:ln w="19050">
              <a:solidFill>
                <a:srgbClr val="3CDCC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8" name="Straight Arrow Connector 167">
              <a:extLst>
                <a:ext uri="{FF2B5EF4-FFF2-40B4-BE49-F238E27FC236}">
                  <a16:creationId xmlns:a16="http://schemas.microsoft.com/office/drawing/2014/main" id="{4FE01017-5E6F-E816-6560-2AED14A8AF3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927080" y="8338211"/>
              <a:ext cx="1051560" cy="7315"/>
            </a:xfrm>
            <a:prstGeom prst="straightConnector1">
              <a:avLst/>
            </a:prstGeom>
            <a:ln w="19050">
              <a:solidFill>
                <a:srgbClr val="3CDCC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9" name="Straight Arrow Connector 168">
              <a:extLst>
                <a:ext uri="{FF2B5EF4-FFF2-40B4-BE49-F238E27FC236}">
                  <a16:creationId xmlns:a16="http://schemas.microsoft.com/office/drawing/2014/main" id="{FA427C0E-E020-B995-B60E-DA8AC002C0C7}"/>
                </a:ext>
              </a:extLst>
            </p:cNvPr>
            <p:cNvCxnSpPr>
              <a:cxnSpLocks/>
              <a:endCxn id="157" idx="1"/>
            </p:cNvCxnSpPr>
            <p:nvPr/>
          </p:nvCxnSpPr>
          <p:spPr>
            <a:xfrm flipV="1">
              <a:off x="14546580" y="8345526"/>
              <a:ext cx="1089660" cy="3657"/>
            </a:xfrm>
            <a:prstGeom prst="straightConnector1">
              <a:avLst/>
            </a:prstGeom>
            <a:ln w="19050">
              <a:solidFill>
                <a:srgbClr val="3CDCC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72" name="Text 23">
            <a:extLst>
              <a:ext uri="{FF2B5EF4-FFF2-40B4-BE49-F238E27FC236}">
                <a16:creationId xmlns:a16="http://schemas.microsoft.com/office/drawing/2014/main" id="{29383FF7-2AE1-89A8-7C1E-C05EABDBF5A7}"/>
              </a:ext>
            </a:extLst>
          </p:cNvPr>
          <p:cNvSpPr/>
          <p:nvPr/>
        </p:nvSpPr>
        <p:spPr>
          <a:xfrm>
            <a:off x="5640019" y="7600138"/>
            <a:ext cx="23408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b="1" dirty="0">
                <a:solidFill>
                  <a:srgbClr val="3DDC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Learner Model</a:t>
            </a:r>
            <a:endParaRPr lang="en-US" dirty="0"/>
          </a:p>
        </p:txBody>
      </p:sp>
      <p:sp>
        <p:nvSpPr>
          <p:cNvPr id="173" name="Text 23">
            <a:extLst>
              <a:ext uri="{FF2B5EF4-FFF2-40B4-BE49-F238E27FC236}">
                <a16:creationId xmlns:a16="http://schemas.microsoft.com/office/drawing/2014/main" id="{71E77474-C585-0FE4-1549-A245A044E3DF}"/>
              </a:ext>
            </a:extLst>
          </p:cNvPr>
          <p:cNvSpPr/>
          <p:nvPr/>
        </p:nvSpPr>
        <p:spPr>
          <a:xfrm>
            <a:off x="9212710" y="7600138"/>
            <a:ext cx="23408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b="1" dirty="0">
                <a:solidFill>
                  <a:srgbClr val="3DDC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Retrieval</a:t>
            </a:r>
            <a:endParaRPr lang="en-US" dirty="0"/>
          </a:p>
        </p:txBody>
      </p:sp>
      <p:sp>
        <p:nvSpPr>
          <p:cNvPr id="174" name="Text 23">
            <a:extLst>
              <a:ext uri="{FF2B5EF4-FFF2-40B4-BE49-F238E27FC236}">
                <a16:creationId xmlns:a16="http://schemas.microsoft.com/office/drawing/2014/main" id="{EED050B8-95AF-6700-59E5-C24DC78B6ECF}"/>
              </a:ext>
            </a:extLst>
          </p:cNvPr>
          <p:cNvSpPr/>
          <p:nvPr/>
        </p:nvSpPr>
        <p:spPr>
          <a:xfrm>
            <a:off x="12891211" y="7592467"/>
            <a:ext cx="23408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b="1" dirty="0">
                <a:solidFill>
                  <a:srgbClr val="3DDC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Mentor + Narrator</a:t>
            </a:r>
            <a:endParaRPr lang="en-US" dirty="0"/>
          </a:p>
        </p:txBody>
      </p:sp>
      <p:sp>
        <p:nvSpPr>
          <p:cNvPr id="175" name="Text 23">
            <a:extLst>
              <a:ext uri="{FF2B5EF4-FFF2-40B4-BE49-F238E27FC236}">
                <a16:creationId xmlns:a16="http://schemas.microsoft.com/office/drawing/2014/main" id="{275C4110-BEBA-256A-9496-6C080810AFD6}"/>
              </a:ext>
            </a:extLst>
          </p:cNvPr>
          <p:cNvSpPr/>
          <p:nvPr/>
        </p:nvSpPr>
        <p:spPr>
          <a:xfrm>
            <a:off x="16587656" y="7599985"/>
            <a:ext cx="23408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b="1" dirty="0">
                <a:solidFill>
                  <a:srgbClr val="3DDC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Instructional Modes</a:t>
            </a:r>
            <a:endParaRPr lang="en-US" dirty="0"/>
          </a:p>
        </p:txBody>
      </p:sp>
      <p:sp>
        <p:nvSpPr>
          <p:cNvPr id="176" name="Text 23">
            <a:extLst>
              <a:ext uri="{FF2B5EF4-FFF2-40B4-BE49-F238E27FC236}">
                <a16:creationId xmlns:a16="http://schemas.microsoft.com/office/drawing/2014/main" id="{99457E7B-A85E-7157-0C63-586808859689}"/>
              </a:ext>
            </a:extLst>
          </p:cNvPr>
          <p:cNvSpPr/>
          <p:nvPr/>
        </p:nvSpPr>
        <p:spPr>
          <a:xfrm>
            <a:off x="2147011" y="7804914"/>
            <a:ext cx="23408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2000"/>
              </a:lnSpc>
              <a:buNone/>
            </a:pPr>
            <a:endParaRPr lang="en-US" dirty="0"/>
          </a:p>
        </p:txBody>
      </p:sp>
      <p:sp>
        <p:nvSpPr>
          <p:cNvPr id="177" name="Text 23">
            <a:extLst>
              <a:ext uri="{FF2B5EF4-FFF2-40B4-BE49-F238E27FC236}">
                <a16:creationId xmlns:a16="http://schemas.microsoft.com/office/drawing/2014/main" id="{472B00BA-A4F3-7DAD-A6FC-BD8CC5ED35B4}"/>
              </a:ext>
            </a:extLst>
          </p:cNvPr>
          <p:cNvSpPr/>
          <p:nvPr/>
        </p:nvSpPr>
        <p:spPr>
          <a:xfrm>
            <a:off x="2090188" y="8362799"/>
            <a:ext cx="23408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1400" dirty="0">
                <a:solidFill>
                  <a:srgbClr val="3DDC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Typed nodes and edges</a:t>
            </a:r>
            <a:endParaRPr lang="en-US" sz="1400" dirty="0"/>
          </a:p>
        </p:txBody>
      </p:sp>
      <p:sp>
        <p:nvSpPr>
          <p:cNvPr id="178" name="Text 23">
            <a:extLst>
              <a:ext uri="{FF2B5EF4-FFF2-40B4-BE49-F238E27FC236}">
                <a16:creationId xmlns:a16="http://schemas.microsoft.com/office/drawing/2014/main" id="{7CB715F7-DA42-BC8D-E26A-DA8587BB36FA}"/>
              </a:ext>
            </a:extLst>
          </p:cNvPr>
          <p:cNvSpPr/>
          <p:nvPr/>
        </p:nvSpPr>
        <p:spPr>
          <a:xfrm>
            <a:off x="5702068" y="8398053"/>
            <a:ext cx="23408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1400" dirty="0">
                <a:solidFill>
                  <a:srgbClr val="3DDC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Proficiency + mastery gates</a:t>
            </a:r>
            <a:endParaRPr lang="en-US" sz="1400" dirty="0"/>
          </a:p>
        </p:txBody>
      </p:sp>
      <p:sp>
        <p:nvSpPr>
          <p:cNvPr id="179" name="Text 23">
            <a:extLst>
              <a:ext uri="{FF2B5EF4-FFF2-40B4-BE49-F238E27FC236}">
                <a16:creationId xmlns:a16="http://schemas.microsoft.com/office/drawing/2014/main" id="{E81C645D-310E-F339-7827-295C43ABC5F5}"/>
              </a:ext>
            </a:extLst>
          </p:cNvPr>
          <p:cNvSpPr/>
          <p:nvPr/>
        </p:nvSpPr>
        <p:spPr>
          <a:xfrm>
            <a:off x="9332236" y="8375194"/>
            <a:ext cx="23408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1400" dirty="0">
                <a:solidFill>
                  <a:srgbClr val="3DDC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Graph + prompt enricher</a:t>
            </a:r>
            <a:endParaRPr lang="en-US" sz="1400" dirty="0"/>
          </a:p>
        </p:txBody>
      </p:sp>
      <p:sp>
        <p:nvSpPr>
          <p:cNvPr id="202" name="Text 23">
            <a:extLst>
              <a:ext uri="{FF2B5EF4-FFF2-40B4-BE49-F238E27FC236}">
                <a16:creationId xmlns:a16="http://schemas.microsoft.com/office/drawing/2014/main" id="{DF08865E-9E34-071F-7550-0CCFDCE6D96B}"/>
              </a:ext>
            </a:extLst>
          </p:cNvPr>
          <p:cNvSpPr/>
          <p:nvPr/>
        </p:nvSpPr>
        <p:spPr>
          <a:xfrm>
            <a:off x="12989836" y="8283754"/>
            <a:ext cx="23408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1400" dirty="0">
                <a:solidFill>
                  <a:srgbClr val="3DDCC6"/>
                </a:solidFill>
                <a:latin typeface="Courier New" pitchFamily="34" charset="0"/>
                <a:cs typeface="Courier New" pitchFamily="34" charset="-120"/>
              </a:rPr>
              <a:t>Two agent architecture</a:t>
            </a:r>
            <a:endParaRPr lang="en-US" sz="1400" dirty="0"/>
          </a:p>
        </p:txBody>
      </p:sp>
      <p:sp>
        <p:nvSpPr>
          <p:cNvPr id="203" name="Text 23">
            <a:extLst>
              <a:ext uri="{FF2B5EF4-FFF2-40B4-BE49-F238E27FC236}">
                <a16:creationId xmlns:a16="http://schemas.microsoft.com/office/drawing/2014/main" id="{663F1D07-E123-EE3D-DAC3-E23FF3C1FD56}"/>
              </a:ext>
            </a:extLst>
          </p:cNvPr>
          <p:cNvSpPr/>
          <p:nvPr/>
        </p:nvSpPr>
        <p:spPr>
          <a:xfrm>
            <a:off x="16476801" y="8398053"/>
            <a:ext cx="23408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1400" dirty="0">
                <a:solidFill>
                  <a:srgbClr val="3DDCC6"/>
                </a:solidFill>
                <a:latin typeface="Courier New" pitchFamily="34" charset="0"/>
                <a:cs typeface="Courier New" pitchFamily="34" charset="-120"/>
              </a:rPr>
              <a:t>Socratic, Scenario, Reach back, Lab</a:t>
            </a:r>
            <a:endParaRPr lang="en-US" sz="1400" dirty="0"/>
          </a:p>
        </p:txBody>
      </p:sp>
      <p:sp>
        <p:nvSpPr>
          <p:cNvPr id="204" name="Text 125">
            <a:extLst>
              <a:ext uri="{FF2B5EF4-FFF2-40B4-BE49-F238E27FC236}">
                <a16:creationId xmlns:a16="http://schemas.microsoft.com/office/drawing/2014/main" id="{C0F71ABC-B01C-F371-D00F-E3430947DA64}"/>
              </a:ext>
            </a:extLst>
          </p:cNvPr>
          <p:cNvSpPr/>
          <p:nvPr/>
        </p:nvSpPr>
        <p:spPr>
          <a:xfrm>
            <a:off x="778229" y="27696077"/>
            <a:ext cx="20299680" cy="31560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200000"/>
              </a:lnSpc>
            </a:pPr>
            <a:r>
              <a:rPr lang="en-US" sz="2000" dirty="0">
                <a:solidFill>
                  <a:srgbClr val="1C2331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Q1 · Do learners trained on injected faults diagnose novel fault combinations better than those taught by direct instruction?</a:t>
            </a:r>
          </a:p>
          <a:p>
            <a:pPr>
              <a:lnSpc>
                <a:spcPct val="200000"/>
              </a:lnSpc>
            </a:pPr>
            <a:r>
              <a:rPr lang="en-US" sz="2000" dirty="0">
                <a:solidFill>
                  <a:srgbClr val="1C2331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Q2 · Does passing a mastery gate predict safe, unsupervised operation on the real equipment?</a:t>
            </a:r>
          </a:p>
          <a:p>
            <a:pPr>
              <a:lnSpc>
                <a:spcPct val="200000"/>
              </a:lnSpc>
            </a:pPr>
            <a:r>
              <a:rPr lang="en-US" sz="2000" dirty="0">
                <a:solidFill>
                  <a:srgbClr val="1C2331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Q3 · How far can the learning sciences take operational readiness in high-consequence work?</a:t>
            </a:r>
          </a:p>
          <a:p>
            <a:pPr>
              <a:lnSpc>
                <a:spcPct val="200000"/>
              </a:lnSpc>
            </a:pPr>
            <a:endParaRPr lang="en-US" sz="2000" dirty="0">
              <a:solidFill>
                <a:srgbClr val="1C2331"/>
              </a:solidFill>
              <a:latin typeface="Cambria" panose="02040503050406030204" pitchFamily="18" charset="0"/>
              <a:ea typeface="Calibri" pitchFamily="34" charset="-122"/>
              <a:cs typeface="Calibri" pitchFamily="34" charset="-120"/>
            </a:endParaRPr>
          </a:p>
          <a:p>
            <a:pPr>
              <a:lnSpc>
                <a:spcPct val="200000"/>
              </a:lnSpc>
            </a:pPr>
            <a:endParaRPr lang="en-US" sz="2000" dirty="0">
              <a:solidFill>
                <a:srgbClr val="1C2331"/>
              </a:solidFill>
              <a:latin typeface="Cambria" panose="02040503050406030204" pitchFamily="18" charset="0"/>
              <a:ea typeface="Calibri" pitchFamily="34" charset="-122"/>
              <a:cs typeface="Calibri" pitchFamily="34" charset="-120"/>
            </a:endParaRPr>
          </a:p>
          <a:p>
            <a:pPr>
              <a:lnSpc>
                <a:spcPct val="200000"/>
              </a:lnSpc>
            </a:pPr>
            <a:endParaRPr lang="en-US" sz="2000" dirty="0">
              <a:solidFill>
                <a:srgbClr val="1C2331"/>
              </a:solidFill>
              <a:latin typeface="Cambria" panose="02040503050406030204" pitchFamily="18" charset="0"/>
              <a:ea typeface="Calibri" pitchFamily="34" charset="-122"/>
              <a:cs typeface="Calibri" pitchFamily="34" charset="-120"/>
            </a:endParaRPr>
          </a:p>
          <a:p>
            <a:pPr marL="0" indent="0" algn="l">
              <a:lnSpc>
                <a:spcPct val="104000"/>
              </a:lnSpc>
              <a:buNone/>
            </a:pPr>
            <a:endParaRPr lang="en-US" sz="3200" dirty="0"/>
          </a:p>
        </p:txBody>
      </p:sp>
      <p:pic>
        <p:nvPicPr>
          <p:cNvPr id="205" name="Picture 204">
            <a:extLst>
              <a:ext uri="{FF2B5EF4-FFF2-40B4-BE49-F238E27FC236}">
                <a16:creationId xmlns:a16="http://schemas.microsoft.com/office/drawing/2014/main" id="{D77BAB8B-C4BB-FE8D-A6DC-9BB4E3AD4C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39252" y="26714907"/>
            <a:ext cx="3988936" cy="3988936"/>
          </a:xfrm>
          <a:prstGeom prst="rect">
            <a:avLst/>
          </a:prstGeom>
        </p:spPr>
      </p:pic>
      <p:sp>
        <p:nvSpPr>
          <p:cNvPr id="206" name="Text 75"/>
          <p:cNvSpPr/>
          <p:nvPr/>
        </p:nvSpPr>
        <p:spPr>
          <a:xfrm>
            <a:off x="14036040" y="15361920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800" b="1" kern="0" spc="100" dirty="0">
                <a:solidFill>
                  <a:srgbClr val="C73B2F"/>
                </a:solidFill>
                <a:latin typeface="Cambria" panose="02040503050406030204" pitchFamily="18" charset="0"/>
                <a:ea typeface="Courier New" pitchFamily="34" charset="-122"/>
                <a:cs typeface="Courier New" pitchFamily="34" charset="-120"/>
              </a:rPr>
              <a:t>One Engine, Three Domains</a:t>
            </a:r>
            <a:endParaRPr lang="en-US" sz="2800" dirty="0">
              <a:latin typeface="Cambria" panose="02040503050406030204" pitchFamily="18" charset="0"/>
            </a:endParaRPr>
          </a:p>
        </p:txBody>
      </p:sp>
      <p:sp>
        <p:nvSpPr>
          <p:cNvPr id="207" name="Shape 55"/>
          <p:cNvSpPr/>
          <p:nvPr/>
        </p:nvSpPr>
        <p:spPr>
          <a:xfrm>
            <a:off x="14036040" y="15864840"/>
            <a:ext cx="7086600" cy="2606040"/>
          </a:xfrm>
          <a:prstGeom prst="roundRect">
            <a:avLst>
              <a:gd name="adj" fmla="val 833"/>
            </a:avLst>
          </a:prstGeom>
          <a:solidFill>
            <a:srgbClr val="FFFFFF"/>
          </a:solidFill>
          <a:ln w="12700">
            <a:solidFill>
              <a:srgbClr val="DDE3E8"/>
            </a:solidFill>
            <a:prstDash val="solid"/>
          </a:ln>
        </p:spPr>
        <p:txBody>
          <a:bodyPr/>
          <a:p/>
        </p:txBody>
      </p:sp>
      <p:sp>
        <p:nvSpPr>
          <p:cNvPr id="208" name="Text 57"/>
          <p:cNvSpPr/>
          <p:nvPr/>
        </p:nvSpPr>
        <p:spPr>
          <a:xfrm>
            <a:off x="14356080" y="15983712"/>
            <a:ext cx="6492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700" b="1" dirty="0">
                <a:solidFill>
                  <a:srgbClr val="1A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EDDIE · Aerosol Jet Printing — flagship</a:t>
            </a:r>
            <a:endParaRPr lang="en-US" sz="2200" dirty="0"/>
          </a:p>
        </p:txBody>
      </p:sp>
      <p:sp>
        <p:nvSpPr>
          <p:cNvPr id="209" name="Text 58"/>
          <p:cNvSpPr/>
          <p:nvPr/>
        </p:nvSpPr>
        <p:spPr>
          <a:xfrm>
            <a:off x="14356080" y="16285463"/>
            <a:ext cx="6492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3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Optomec HD2 operator training; 100+ nodes, six fault domains, hazards co-retrieved.</a:t>
            </a:r>
            <a:endParaRPr lang="en-US" sz="1550" dirty="0"/>
          </a:p>
        </p:txBody>
      </p:sp>
      <p:sp>
        <p:nvSpPr>
          <p:cNvPr id="210" name="Text 57"/>
          <p:cNvSpPr/>
          <p:nvPr/>
        </p:nvSpPr>
        <p:spPr>
          <a:xfrm>
            <a:off x="14356080" y="16806672"/>
            <a:ext cx="6492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700" b="1" dirty="0">
                <a:solidFill>
                  <a:srgbClr val="1A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Roadside Tire Change</a:t>
            </a:r>
            <a:endParaRPr lang="en-US" sz="2200" dirty="0"/>
          </a:p>
        </p:txBody>
      </p:sp>
      <p:sp>
        <p:nvSpPr>
          <p:cNvPr id="211" name="Text 58"/>
          <p:cNvSpPr/>
          <p:nvPr/>
        </p:nvSpPr>
        <p:spPr>
          <a:xfrm>
            <a:off x="14356080" y="17108423"/>
            <a:ext cx="6492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3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authored as graph + corpus alone — inherits probes, scenarios, gates, consequences.</a:t>
            </a:r>
            <a:endParaRPr lang="en-US" sz="1550" dirty="0"/>
          </a:p>
        </p:txBody>
      </p:sp>
      <p:sp>
        <p:nvSpPr>
          <p:cNvPr id="212" name="Text 57"/>
          <p:cNvSpPr/>
          <p:nvPr/>
        </p:nvSpPr>
        <p:spPr>
          <a:xfrm>
            <a:off x="14356080" y="17629632"/>
            <a:ext cx="6492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700" b="1" dirty="0">
                <a:solidFill>
                  <a:srgbClr val="1A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COLREG Collision Avoidance</a:t>
            </a:r>
            <a:endParaRPr lang="en-US" sz="2200" dirty="0"/>
          </a:p>
        </p:txBody>
      </p:sp>
      <p:sp>
        <p:nvSpPr>
          <p:cNvPr id="213" name="Text 58"/>
          <p:cNvSpPr/>
          <p:nvPr/>
        </p:nvSpPr>
        <p:spPr>
          <a:xfrm>
            <a:off x="14356080" y="17931384"/>
            <a:ext cx="6492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3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of the road + interactive simulator: real kinematics, Collision Risk Index, per-rule scoring.</a:t>
            </a:r>
            <a:endParaRPr lang="en-US" sz="1550" dirty="0"/>
          </a:p>
        </p:txBody>
      </p:sp>
      <p:sp>
        <p:nvSpPr>
          <p:cNvPr id="214" name="Text 59"/>
          <p:cNvSpPr/>
          <p:nvPr/>
        </p:nvSpPr>
        <p:spPr>
          <a:xfrm>
            <a:off x="14036040" y="18507456"/>
            <a:ext cx="7086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0E5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so a new domain is an authoring task, not a software project.</a:t>
            </a:r>
            <a:r>
              <a:rPr lang="en-US" sz="1400" b="1" dirty="0">
                <a:solidFill>
                  <a:srgbClr val="1A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600" dirty="0"/>
          </a:p>
        </p:txBody>
      </p:sp>
      <p:sp>
        <p:nvSpPr>
          <p:cNvPr id="215" name="Text 118"/>
          <p:cNvSpPr/>
          <p:nvPr/>
        </p:nvSpPr>
        <p:spPr>
          <a:xfrm>
            <a:off x="1280160" y="24981408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400" b="1" dirty="0">
                <a:solidFill>
                  <a:srgbClr val="D7D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Corpus necessity audit</a:t>
            </a:r>
            <a:endParaRPr lang="en-US" sz="1400" dirty="0"/>
          </a:p>
        </p:txBody>
      </p:sp>
      <p:sp>
        <p:nvSpPr>
          <p:cNvPr id="216" name="Text 119"/>
          <p:cNvSpPr/>
          <p:nvPr/>
        </p:nvSpPr>
        <p:spPr>
          <a:xfrm>
            <a:off x="5577840" y="24981408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400" dirty="0">
                <a:solidFill>
                  <a:srgbClr val="D7D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test whether answers actually depend on the corpus — a calibrated screen, verified on five different base models, before any human trial.</a:t>
            </a:r>
            <a:endParaRPr lang="en-US" sz="1400" dirty="0"/>
          </a:p>
        </p:txBody>
      </p:sp>
      <p:sp>
        <p:nvSpPr>
          <p:cNvPr id="217" name="Text 120"/>
          <p:cNvSpPr/>
          <p:nvPr/>
        </p:nvSpPr>
        <p:spPr>
          <a:xfrm>
            <a:off x="12710160" y="250088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3DDC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strong</a:t>
            </a:r>
            <a:endParaRPr lang="en-US" sz="1400" dirty="0"/>
          </a:p>
        </p:txBody>
      </p:sp>
      <p:sp>
        <p:nvSpPr>
          <p:cNvPr id="218" name="Text 121"/>
          <p:cNvSpPr/>
          <p:nvPr/>
        </p:nvSpPr>
        <p:spPr>
          <a:xfrm>
            <a:off x="14081760" y="25008840"/>
            <a:ext cx="6492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400" dirty="0">
                <a:solidFill>
                  <a:srgbClr val="8B95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is from simulation — it audits the tutor’s grounding, not how well humans learn</a:t>
            </a:r>
            <a:endParaRPr lang="en-US" sz="1400" dirty="0"/>
          </a:p>
        </p:txBody>
      </p:sp>
      <p:sp>
        <p:nvSpPr>
          <p:cNvPr id="219" name="Text 90"/>
          <p:cNvSpPr/>
          <p:nvPr/>
        </p:nvSpPr>
        <p:spPr>
          <a:xfrm>
            <a:off x="10972800" y="10561320"/>
            <a:ext cx="10149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0E5C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NEW: WE NOW MEASURE WHETHER THE TUTOR ACTUALLY USES ITS CORPUS (COMPANION POSTER)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60</TotalTime>
  <Words>650</Words>
  <Application>Microsoft Macintosh PowerPoint</Application>
  <PresentationFormat>Custom</PresentationFormat>
  <Paragraphs>82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Cambria</vt:lpstr>
      <vt:lpstr>Courier New</vt:lpstr>
      <vt:lpstr>Office Theme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Mia Ndousse-Fetter </cp:lastModifiedBy>
  <cp:revision>4</cp:revision>
  <dcterms:created xsi:type="dcterms:W3CDTF">2026-07-15T19:20:04Z</dcterms:created>
  <dcterms:modified xsi:type="dcterms:W3CDTF">2026-07-15T20:21:58Z</dcterms:modified>
</cp:coreProperties>
</file>